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Open Sauce Bold" charset="1" panose="00000800000000000000"/>
      <p:regular r:id="rId13"/>
    </p:embeddedFont>
    <p:embeddedFont>
      <p:font typeface="DM Sans Bold" charset="1" panose="00000000000000000000"/>
      <p:regular r:id="rId14"/>
    </p:embeddedFont>
    <p:embeddedFont>
      <p:font typeface="DM Sans" charset="1" panose="00000000000000000000"/>
      <p:regular r:id="rId15"/>
    </p:embeddedFont>
    <p:embeddedFont>
      <p:font typeface="Open Sauce" charset="1" panose="00000500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Relationship Id="rId7" Target="../media/image13.png" Type="http://schemas.openxmlformats.org/officeDocument/2006/relationships/image"/><Relationship Id="rId8" Target="../media/image14.svg" Type="http://schemas.openxmlformats.org/officeDocument/2006/relationships/image"/><Relationship Id="rId9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0.svg" Type="http://schemas.openxmlformats.org/officeDocument/2006/relationships/image"/><Relationship Id="rId11" Target="../media/image21.png" Type="http://schemas.openxmlformats.org/officeDocument/2006/relationships/image"/><Relationship Id="rId12" Target="../media/image22.svg" Type="http://schemas.openxmlformats.org/officeDocument/2006/relationships/image"/><Relationship Id="rId13" Target="../media/image23.png" Type="http://schemas.openxmlformats.org/officeDocument/2006/relationships/image"/><Relationship Id="rId14" Target="../media/image24.svg" Type="http://schemas.openxmlformats.org/officeDocument/2006/relationships/image"/><Relationship Id="rId15" Target="../media/image25.png" Type="http://schemas.openxmlformats.org/officeDocument/2006/relationships/image"/><Relationship Id="rId16" Target="../media/image26.svg" Type="http://schemas.openxmlformats.org/officeDocument/2006/relationships/image"/><Relationship Id="rId17" Target="../media/image27.png" Type="http://schemas.openxmlformats.org/officeDocument/2006/relationships/image"/><Relationship Id="rId18" Target="../media/image28.svg" Type="http://schemas.openxmlformats.org/officeDocument/2006/relationships/image"/><Relationship Id="rId19" Target="../media/image29.png" Type="http://schemas.openxmlformats.org/officeDocument/2006/relationships/image"/><Relationship Id="rId2" Target="../media/image7.png" Type="http://schemas.openxmlformats.org/officeDocument/2006/relationships/image"/><Relationship Id="rId20" Target="../media/image30.svg" Type="http://schemas.openxmlformats.org/officeDocument/2006/relationships/image"/><Relationship Id="rId21" Target="../media/image31.png" Type="http://schemas.openxmlformats.org/officeDocument/2006/relationships/image"/><Relationship Id="rId22" Target="../media/image32.png" Type="http://schemas.openxmlformats.org/officeDocument/2006/relationships/image"/><Relationship Id="rId23" Target="../media/image33.svg" Type="http://schemas.openxmlformats.org/officeDocument/2006/relationships/image"/><Relationship Id="rId24" Target="../media/image34.png" Type="http://schemas.openxmlformats.org/officeDocument/2006/relationships/image"/><Relationship Id="rId25" Target="../media/image35.png" Type="http://schemas.openxmlformats.org/officeDocument/2006/relationships/image"/><Relationship Id="rId26" Target="../media/image36.svg" Type="http://schemas.openxmlformats.org/officeDocument/2006/relationships/image"/><Relationship Id="rId27" Target="../media/image37.png" Type="http://schemas.openxmlformats.org/officeDocument/2006/relationships/image"/><Relationship Id="rId28" Target="../media/image38.sv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17.png" Type="http://schemas.openxmlformats.org/officeDocument/2006/relationships/image"/><Relationship Id="rId6" Target="../media/image18.sv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Relationship Id="rId9" Target="../media/image1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39.pn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https://pruebaelalmendro.vercel.app" TargetMode="External" Type="http://schemas.openxmlformats.org/officeDocument/2006/relationships/hyperlink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0.jpeg" Type="http://schemas.openxmlformats.org/officeDocument/2006/relationships/image"/><Relationship Id="rId3" Target="../media/image4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912065"/>
            <a:ext cx="5735558" cy="3123940"/>
            <a:chOff x="0" y="0"/>
            <a:chExt cx="725916" cy="39537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25916" cy="395379"/>
            </a:xfrm>
            <a:custGeom>
              <a:avLst/>
              <a:gdLst/>
              <a:ahLst/>
              <a:cxnLst/>
              <a:rect r="r" b="b" t="t" l="l"/>
              <a:pathLst>
                <a:path h="395379" w="725916">
                  <a:moveTo>
                    <a:pt x="31046" y="0"/>
                  </a:moveTo>
                  <a:lnTo>
                    <a:pt x="694870" y="0"/>
                  </a:lnTo>
                  <a:cubicBezTo>
                    <a:pt x="712016" y="0"/>
                    <a:pt x="725916" y="13900"/>
                    <a:pt x="725916" y="31046"/>
                  </a:cubicBezTo>
                  <a:lnTo>
                    <a:pt x="725916" y="364333"/>
                  </a:lnTo>
                  <a:cubicBezTo>
                    <a:pt x="725916" y="381479"/>
                    <a:pt x="712016" y="395379"/>
                    <a:pt x="694870" y="395379"/>
                  </a:cubicBezTo>
                  <a:lnTo>
                    <a:pt x="31046" y="395379"/>
                  </a:lnTo>
                  <a:cubicBezTo>
                    <a:pt x="13900" y="395379"/>
                    <a:pt x="0" y="381479"/>
                    <a:pt x="0" y="364333"/>
                  </a:cubicBezTo>
                  <a:lnTo>
                    <a:pt x="0" y="31046"/>
                  </a:lnTo>
                  <a:cubicBezTo>
                    <a:pt x="0" y="13900"/>
                    <a:pt x="13900" y="0"/>
                    <a:pt x="31046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27697" r="0" b="-17102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7053569" y="2038361"/>
            <a:ext cx="9735963" cy="2871349"/>
          </a:xfrm>
          <a:custGeom>
            <a:avLst/>
            <a:gdLst/>
            <a:ahLst/>
            <a:cxnLst/>
            <a:rect r="r" b="b" t="t" l="l"/>
            <a:pathLst>
              <a:path h="2871349" w="9735963">
                <a:moveTo>
                  <a:pt x="0" y="0"/>
                </a:moveTo>
                <a:lnTo>
                  <a:pt x="9735963" y="0"/>
                </a:lnTo>
                <a:lnTo>
                  <a:pt x="9735963" y="2871348"/>
                </a:lnTo>
                <a:lnTo>
                  <a:pt x="0" y="28713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112431" y="7481101"/>
            <a:ext cx="1206019" cy="1355078"/>
          </a:xfrm>
          <a:custGeom>
            <a:avLst/>
            <a:gdLst/>
            <a:ahLst/>
            <a:cxnLst/>
            <a:rect r="r" b="b" t="t" l="l"/>
            <a:pathLst>
              <a:path h="1355078" w="1206019">
                <a:moveTo>
                  <a:pt x="0" y="0"/>
                </a:moveTo>
                <a:lnTo>
                  <a:pt x="1206019" y="0"/>
                </a:lnTo>
                <a:lnTo>
                  <a:pt x="1206019" y="1355078"/>
                </a:lnTo>
                <a:lnTo>
                  <a:pt x="0" y="13550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975383" y="7481101"/>
            <a:ext cx="1206019" cy="1355078"/>
          </a:xfrm>
          <a:custGeom>
            <a:avLst/>
            <a:gdLst/>
            <a:ahLst/>
            <a:cxnLst/>
            <a:rect r="r" b="b" t="t" l="l"/>
            <a:pathLst>
              <a:path h="1355078" w="1206019">
                <a:moveTo>
                  <a:pt x="0" y="0"/>
                </a:moveTo>
                <a:lnTo>
                  <a:pt x="1206019" y="0"/>
                </a:lnTo>
                <a:lnTo>
                  <a:pt x="1206019" y="1355078"/>
                </a:lnTo>
                <a:lnTo>
                  <a:pt x="0" y="13550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542348" y="7481101"/>
            <a:ext cx="1206019" cy="1355078"/>
          </a:xfrm>
          <a:custGeom>
            <a:avLst/>
            <a:gdLst/>
            <a:ahLst/>
            <a:cxnLst/>
            <a:rect r="r" b="b" t="t" l="l"/>
            <a:pathLst>
              <a:path h="1355078" w="1206019">
                <a:moveTo>
                  <a:pt x="0" y="0"/>
                </a:moveTo>
                <a:lnTo>
                  <a:pt x="1206020" y="0"/>
                </a:lnTo>
                <a:lnTo>
                  <a:pt x="1206020" y="1355078"/>
                </a:lnTo>
                <a:lnTo>
                  <a:pt x="0" y="13550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8131750" y="5653328"/>
            <a:ext cx="2024501" cy="1290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43"/>
              </a:lnSpc>
              <a:spcBef>
                <a:spcPct val="0"/>
              </a:spcBef>
            </a:pPr>
            <a:r>
              <a:rPr lang="en-US" sz="7531" b="true">
                <a:solidFill>
                  <a:srgbClr val="FF6B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BPB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919595" y="9335395"/>
            <a:ext cx="3580025" cy="446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8"/>
              </a:lnSpc>
              <a:spcBef>
                <a:spcPct val="0"/>
              </a:spcBef>
            </a:pPr>
            <a:r>
              <a:rPr lang="en-US" b="true" sz="2706">
                <a:solidFill>
                  <a:srgbClr val="FF6B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Pablo Gamboa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355346" y="9335395"/>
            <a:ext cx="3580025" cy="446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8"/>
              </a:lnSpc>
              <a:spcBef>
                <a:spcPct val="0"/>
              </a:spcBef>
            </a:pPr>
            <a:r>
              <a:rPr lang="en-US" b="true" sz="2706">
                <a:solidFill>
                  <a:srgbClr val="FF6B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Benjamín Salinas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788380" y="9335395"/>
            <a:ext cx="3580025" cy="446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8"/>
              </a:lnSpc>
              <a:spcBef>
                <a:spcPct val="0"/>
              </a:spcBef>
            </a:pPr>
            <a:r>
              <a:rPr lang="en-US" b="true" sz="2706">
                <a:solidFill>
                  <a:srgbClr val="FF6B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Bruno Carpio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88946" y="2673371"/>
            <a:ext cx="6994533" cy="6994533"/>
          </a:xfrm>
          <a:custGeom>
            <a:avLst/>
            <a:gdLst/>
            <a:ahLst/>
            <a:cxnLst/>
            <a:rect r="r" b="b" t="t" l="l"/>
            <a:pathLst>
              <a:path h="6994533" w="6994533">
                <a:moveTo>
                  <a:pt x="0" y="0"/>
                </a:moveTo>
                <a:lnTo>
                  <a:pt x="6994533" y="0"/>
                </a:lnTo>
                <a:lnTo>
                  <a:pt x="6994533" y="6994532"/>
                </a:lnTo>
                <a:lnTo>
                  <a:pt x="0" y="69945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0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w="95250" cap="rnd">
            <a:solidFill>
              <a:srgbClr val="1A1A1A">
                <a:alpha val="20784"/>
              </a:srgbClr>
            </a:solidFill>
            <a:prstDash val="solid"/>
            <a:round/>
          </a:ln>
        </p:spPr>
      </p:sp>
      <p:sp>
        <p:nvSpPr>
          <p:cNvPr name="TextBox 3" id="3"/>
          <p:cNvSpPr txBox="true"/>
          <p:nvPr/>
        </p:nvSpPr>
        <p:spPr>
          <a:xfrm rot="0">
            <a:off x="1738441" y="504797"/>
            <a:ext cx="6163187" cy="1953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10"/>
              </a:lnSpc>
              <a:spcBef>
                <a:spcPct val="0"/>
              </a:spcBef>
            </a:pPr>
            <a:r>
              <a:rPr lang="en-US" b="true" sz="5579">
                <a:solidFill>
                  <a:srgbClr val="FF6B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Contexto Organizacional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9904521" y="2673371"/>
            <a:ext cx="6994533" cy="6994533"/>
          </a:xfrm>
          <a:custGeom>
            <a:avLst/>
            <a:gdLst/>
            <a:ahLst/>
            <a:cxnLst/>
            <a:rect r="r" b="b" t="t" l="l"/>
            <a:pathLst>
              <a:path h="6994533" w="6994533">
                <a:moveTo>
                  <a:pt x="0" y="0"/>
                </a:moveTo>
                <a:lnTo>
                  <a:pt x="6994533" y="0"/>
                </a:lnTo>
                <a:lnTo>
                  <a:pt x="6994533" y="6994532"/>
                </a:lnTo>
                <a:lnTo>
                  <a:pt x="0" y="69945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0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w="95250" cap="rnd">
            <a:solidFill>
              <a:srgbClr val="000000">
                <a:alpha val="20784"/>
              </a:srgbClr>
            </a:solidFill>
            <a:prstDash val="solid"/>
            <a:round/>
          </a:ln>
        </p:spPr>
      </p:sp>
      <p:sp>
        <p:nvSpPr>
          <p:cNvPr name="TextBox 5" id="5"/>
          <p:cNvSpPr txBox="true"/>
          <p:nvPr/>
        </p:nvSpPr>
        <p:spPr>
          <a:xfrm rot="0">
            <a:off x="10264743" y="504797"/>
            <a:ext cx="6163187" cy="1956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10"/>
              </a:lnSpc>
              <a:spcBef>
                <a:spcPct val="0"/>
              </a:spcBef>
            </a:pPr>
            <a:r>
              <a:rPr lang="en-US" b="true" sz="5579">
                <a:solidFill>
                  <a:srgbClr val="FF6B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Contexto del Desafío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7586" y="0"/>
            <a:ext cx="2774732" cy="938206"/>
          </a:xfrm>
          <a:custGeom>
            <a:avLst/>
            <a:gdLst/>
            <a:ahLst/>
            <a:cxnLst/>
            <a:rect r="r" b="b" t="t" l="l"/>
            <a:pathLst>
              <a:path h="938206" w="2774732">
                <a:moveTo>
                  <a:pt x="0" y="0"/>
                </a:moveTo>
                <a:lnTo>
                  <a:pt x="2774732" y="0"/>
                </a:lnTo>
                <a:lnTo>
                  <a:pt x="2774732" y="938206"/>
                </a:lnTo>
                <a:lnTo>
                  <a:pt x="0" y="9382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442822" y="3179602"/>
            <a:ext cx="6754426" cy="5628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9756" indent="-314878" lvl="1">
              <a:lnSpc>
                <a:spcPts val="4083"/>
              </a:lnSpc>
              <a:buFont typeface="Arial"/>
              <a:buChar char="•"/>
            </a:pPr>
            <a:r>
              <a:rPr lang="en-US" b="true" sz="2916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Rubro:</a:t>
            </a:r>
            <a:r>
              <a:rPr lang="en-US" sz="291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Hotelería y centro de eventos.</a:t>
            </a:r>
          </a:p>
          <a:p>
            <a:pPr algn="l" marL="629756" indent="-314878" lvl="1">
              <a:lnSpc>
                <a:spcPts val="4083"/>
              </a:lnSpc>
              <a:buFont typeface="Arial"/>
              <a:buChar char="•"/>
            </a:pPr>
            <a:r>
              <a:rPr lang="en-US" b="true" sz="2916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Ubicación:</a:t>
            </a:r>
            <a:r>
              <a:rPr lang="en-US" sz="291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Entre Buin y Paine, a 40 minutos de Santiago.</a:t>
            </a:r>
          </a:p>
          <a:p>
            <a:pPr algn="l" marL="629756" indent="-314878" lvl="1">
              <a:lnSpc>
                <a:spcPts val="4083"/>
              </a:lnSpc>
              <a:buFont typeface="Arial"/>
              <a:buChar char="•"/>
            </a:pPr>
            <a:r>
              <a:rPr lang="en-US" b="true" sz="2916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Superficie:</a:t>
            </a:r>
            <a:r>
              <a:rPr lang="en-US" sz="291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31.000 m² de terreno.</a:t>
            </a:r>
          </a:p>
          <a:p>
            <a:pPr algn="l" marL="629756" indent="-314878" lvl="1">
              <a:lnSpc>
                <a:spcPts val="4083"/>
              </a:lnSpc>
              <a:buFont typeface="Arial"/>
              <a:buChar char="•"/>
            </a:pPr>
            <a:r>
              <a:rPr lang="en-US" b="true" sz="2916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Alojamiento:</a:t>
            </a:r>
            <a:r>
              <a:rPr lang="en-US" sz="291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25 habitaciones.</a:t>
            </a:r>
          </a:p>
          <a:p>
            <a:pPr algn="l" marL="629756" indent="-314878" lvl="1">
              <a:lnSpc>
                <a:spcPts val="4083"/>
              </a:lnSpc>
              <a:buFont typeface="Arial"/>
              <a:buChar char="•"/>
            </a:pPr>
            <a:r>
              <a:rPr lang="en-US" b="true" sz="2916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Eventos:</a:t>
            </a:r>
            <a:r>
              <a:rPr lang="en-US" sz="291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Salón para 250 personas y terraza para 600 personas.</a:t>
            </a:r>
          </a:p>
          <a:p>
            <a:pPr algn="l" marL="629756" indent="-314878" lvl="1">
              <a:lnSpc>
                <a:spcPts val="4083"/>
              </a:lnSpc>
              <a:buFont typeface="Arial"/>
              <a:buChar char="•"/>
            </a:pPr>
            <a:r>
              <a:rPr lang="en-US" b="true" sz="2916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Infraestructura:</a:t>
            </a:r>
            <a:r>
              <a:rPr lang="en-US" sz="291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Diversos espacios, instalaciones y equipamiento para alojamiento y eventos.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04521" y="3179602"/>
            <a:ext cx="6774514" cy="6283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95029" indent="-297514" lvl="1">
              <a:lnSpc>
                <a:spcPts val="3858"/>
              </a:lnSpc>
              <a:spcBef>
                <a:spcPct val="0"/>
              </a:spcBef>
              <a:buFont typeface="Arial"/>
              <a:buChar char="•"/>
            </a:pPr>
            <a:r>
              <a:rPr lang="en-US" sz="275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La</a:t>
            </a:r>
            <a:r>
              <a:rPr lang="en-US" sz="275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operación del hotel implica gestionar múltiples instalaciones, equipos y activos.</a:t>
            </a:r>
          </a:p>
          <a:p>
            <a:pPr algn="l" marL="595029" indent="-297514" lvl="1">
              <a:lnSpc>
                <a:spcPts val="3858"/>
              </a:lnSpc>
              <a:spcBef>
                <a:spcPct val="0"/>
              </a:spcBef>
              <a:buFont typeface="Arial"/>
              <a:buChar char="•"/>
            </a:pPr>
            <a:r>
              <a:rPr lang="en-US" sz="275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</a:t>
            </a:r>
            <a:r>
              <a:rPr lang="en-US" sz="275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 gestión contempla actividades de mantención, obras y remodelaciones.</a:t>
            </a:r>
          </a:p>
          <a:p>
            <a:pPr algn="l" marL="595029" indent="-297514" lvl="1">
              <a:lnSpc>
                <a:spcPts val="3858"/>
              </a:lnSpc>
              <a:spcBef>
                <a:spcPct val="0"/>
              </a:spcBef>
              <a:buFont typeface="Arial"/>
              <a:buChar char="•"/>
            </a:pPr>
            <a:r>
              <a:rPr lang="en-US" sz="275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El proy</a:t>
            </a:r>
            <a:r>
              <a:rPr lang="en-US" sz="275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ecto considera la digitalización y centralización de la información asociada a estos procesos.</a:t>
            </a:r>
          </a:p>
          <a:p>
            <a:pPr algn="l" marL="595029" indent="-297514" lvl="1">
              <a:lnSpc>
                <a:spcPts val="3858"/>
              </a:lnSpc>
              <a:spcBef>
                <a:spcPct val="0"/>
              </a:spcBef>
              <a:buFont typeface="Arial"/>
              <a:buChar char="•"/>
            </a:pPr>
            <a:r>
              <a:rPr lang="en-US" sz="275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Se p</a:t>
            </a:r>
            <a:r>
              <a:rPr lang="en-US" sz="275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ropone desarrollar un sistema web de gestión para apoyar el registro, seguimiento y control de estas actividades.</a:t>
            </a:r>
          </a:p>
          <a:p>
            <a:pPr algn="l">
              <a:lnSpc>
                <a:spcPts val="3858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324413" y="1506218"/>
            <a:ext cx="7651549" cy="993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97"/>
              </a:lnSpc>
              <a:spcBef>
                <a:spcPct val="0"/>
              </a:spcBef>
            </a:pPr>
            <a:r>
              <a:rPr lang="en-US" sz="5783" b="true">
                <a:solidFill>
                  <a:srgbClr val="FF6B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Problema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350307" y="2986873"/>
            <a:ext cx="7651549" cy="4168426"/>
            <a:chOff x="0" y="0"/>
            <a:chExt cx="1146194" cy="62442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46194" cy="624426"/>
            </a:xfrm>
            <a:custGeom>
              <a:avLst/>
              <a:gdLst/>
              <a:ahLst/>
              <a:cxnLst/>
              <a:rect r="r" b="b" t="t" l="l"/>
              <a:pathLst>
                <a:path h="624426" w="1146194">
                  <a:moveTo>
                    <a:pt x="23272" y="0"/>
                  </a:moveTo>
                  <a:lnTo>
                    <a:pt x="1122922" y="0"/>
                  </a:lnTo>
                  <a:cubicBezTo>
                    <a:pt x="1135774" y="0"/>
                    <a:pt x="1146194" y="10419"/>
                    <a:pt x="1146194" y="23272"/>
                  </a:cubicBezTo>
                  <a:lnTo>
                    <a:pt x="1146194" y="601154"/>
                  </a:lnTo>
                  <a:cubicBezTo>
                    <a:pt x="1146194" y="614006"/>
                    <a:pt x="1135774" y="624426"/>
                    <a:pt x="1122922" y="624426"/>
                  </a:cubicBezTo>
                  <a:lnTo>
                    <a:pt x="23272" y="624426"/>
                  </a:lnTo>
                  <a:cubicBezTo>
                    <a:pt x="10419" y="624426"/>
                    <a:pt x="0" y="614006"/>
                    <a:pt x="0" y="601154"/>
                  </a:cubicBezTo>
                  <a:lnTo>
                    <a:pt x="0" y="23272"/>
                  </a:lnTo>
                  <a:cubicBezTo>
                    <a:pt x="0" y="10419"/>
                    <a:pt x="10419" y="0"/>
                    <a:pt x="23272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1148" r="0" b="-11148"/>
              </a:stretch>
            </a:blipFill>
            <a:ln w="76200" cap="rnd">
              <a:solidFill>
                <a:srgbClr val="FF6B00"/>
              </a:solidFill>
              <a:prstDash val="solid"/>
              <a:round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8773381" y="2499971"/>
            <a:ext cx="1202581" cy="1202581"/>
            <a:chOff x="0" y="0"/>
            <a:chExt cx="244674" cy="24467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4674" cy="244674"/>
            </a:xfrm>
            <a:custGeom>
              <a:avLst/>
              <a:gdLst/>
              <a:ahLst/>
              <a:cxnLst/>
              <a:rect r="r" b="b" t="t" l="l"/>
              <a:pathLst>
                <a:path h="244674" w="244674">
                  <a:moveTo>
                    <a:pt x="122337" y="0"/>
                  </a:moveTo>
                  <a:lnTo>
                    <a:pt x="122337" y="0"/>
                  </a:lnTo>
                  <a:cubicBezTo>
                    <a:pt x="154783" y="0"/>
                    <a:pt x="185900" y="12889"/>
                    <a:pt x="208843" y="35832"/>
                  </a:cubicBezTo>
                  <a:cubicBezTo>
                    <a:pt x="231785" y="58774"/>
                    <a:pt x="244674" y="89891"/>
                    <a:pt x="244674" y="122337"/>
                  </a:cubicBezTo>
                  <a:lnTo>
                    <a:pt x="244674" y="122337"/>
                  </a:lnTo>
                  <a:cubicBezTo>
                    <a:pt x="244674" y="189902"/>
                    <a:pt x="189902" y="244674"/>
                    <a:pt x="122337" y="244674"/>
                  </a:cubicBezTo>
                  <a:lnTo>
                    <a:pt x="122337" y="244674"/>
                  </a:lnTo>
                  <a:cubicBezTo>
                    <a:pt x="54772" y="244674"/>
                    <a:pt x="0" y="189902"/>
                    <a:pt x="0" y="122337"/>
                  </a:cubicBezTo>
                  <a:lnTo>
                    <a:pt x="0" y="122337"/>
                  </a:lnTo>
                  <a:cubicBezTo>
                    <a:pt x="0" y="54772"/>
                    <a:pt x="54772" y="0"/>
                    <a:pt x="122337" y="0"/>
                  </a:cubicBezTo>
                  <a:close/>
                </a:path>
              </a:pathLst>
            </a:custGeom>
            <a:solidFill>
              <a:srgbClr val="FF6B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44674" cy="2827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773381" y="4777370"/>
            <a:ext cx="1202581" cy="1202581"/>
            <a:chOff x="0" y="0"/>
            <a:chExt cx="244674" cy="24467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4674" cy="244674"/>
            </a:xfrm>
            <a:custGeom>
              <a:avLst/>
              <a:gdLst/>
              <a:ahLst/>
              <a:cxnLst/>
              <a:rect r="r" b="b" t="t" l="l"/>
              <a:pathLst>
                <a:path h="244674" w="244674">
                  <a:moveTo>
                    <a:pt x="122337" y="0"/>
                  </a:moveTo>
                  <a:lnTo>
                    <a:pt x="122337" y="0"/>
                  </a:lnTo>
                  <a:cubicBezTo>
                    <a:pt x="154783" y="0"/>
                    <a:pt x="185900" y="12889"/>
                    <a:pt x="208843" y="35832"/>
                  </a:cubicBezTo>
                  <a:cubicBezTo>
                    <a:pt x="231785" y="58774"/>
                    <a:pt x="244674" y="89891"/>
                    <a:pt x="244674" y="122337"/>
                  </a:cubicBezTo>
                  <a:lnTo>
                    <a:pt x="244674" y="122337"/>
                  </a:lnTo>
                  <a:cubicBezTo>
                    <a:pt x="244674" y="189902"/>
                    <a:pt x="189902" y="244674"/>
                    <a:pt x="122337" y="244674"/>
                  </a:cubicBezTo>
                  <a:lnTo>
                    <a:pt x="122337" y="244674"/>
                  </a:lnTo>
                  <a:cubicBezTo>
                    <a:pt x="54772" y="244674"/>
                    <a:pt x="0" y="189902"/>
                    <a:pt x="0" y="122337"/>
                  </a:cubicBezTo>
                  <a:lnTo>
                    <a:pt x="0" y="122337"/>
                  </a:lnTo>
                  <a:cubicBezTo>
                    <a:pt x="0" y="54772"/>
                    <a:pt x="54772" y="0"/>
                    <a:pt x="122337" y="0"/>
                  </a:cubicBez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44674" cy="2827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773381" y="6937255"/>
            <a:ext cx="1202581" cy="1202581"/>
            <a:chOff x="0" y="0"/>
            <a:chExt cx="244674" cy="24467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44674" cy="244674"/>
            </a:xfrm>
            <a:custGeom>
              <a:avLst/>
              <a:gdLst/>
              <a:ahLst/>
              <a:cxnLst/>
              <a:rect r="r" b="b" t="t" l="l"/>
              <a:pathLst>
                <a:path h="244674" w="244674">
                  <a:moveTo>
                    <a:pt x="122337" y="0"/>
                  </a:moveTo>
                  <a:lnTo>
                    <a:pt x="122337" y="0"/>
                  </a:lnTo>
                  <a:cubicBezTo>
                    <a:pt x="154783" y="0"/>
                    <a:pt x="185900" y="12889"/>
                    <a:pt x="208843" y="35832"/>
                  </a:cubicBezTo>
                  <a:cubicBezTo>
                    <a:pt x="231785" y="58774"/>
                    <a:pt x="244674" y="89891"/>
                    <a:pt x="244674" y="122337"/>
                  </a:cubicBezTo>
                  <a:lnTo>
                    <a:pt x="244674" y="122337"/>
                  </a:lnTo>
                  <a:cubicBezTo>
                    <a:pt x="244674" y="189902"/>
                    <a:pt x="189902" y="244674"/>
                    <a:pt x="122337" y="244674"/>
                  </a:cubicBezTo>
                  <a:lnTo>
                    <a:pt x="122337" y="244674"/>
                  </a:lnTo>
                  <a:cubicBezTo>
                    <a:pt x="54772" y="244674"/>
                    <a:pt x="0" y="189902"/>
                    <a:pt x="0" y="122337"/>
                  </a:cubicBezTo>
                  <a:lnTo>
                    <a:pt x="0" y="122337"/>
                  </a:lnTo>
                  <a:cubicBezTo>
                    <a:pt x="0" y="54772"/>
                    <a:pt x="54772" y="0"/>
                    <a:pt x="122337" y="0"/>
                  </a:cubicBezTo>
                  <a:close/>
                </a:path>
              </a:pathLst>
            </a:custGeom>
            <a:solidFill>
              <a:srgbClr val="FF6B0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44674" cy="2827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9144190" y="7216756"/>
            <a:ext cx="460962" cy="643578"/>
          </a:xfrm>
          <a:custGeom>
            <a:avLst/>
            <a:gdLst/>
            <a:ahLst/>
            <a:cxnLst/>
            <a:rect r="r" b="b" t="t" l="l"/>
            <a:pathLst>
              <a:path h="643578" w="460962">
                <a:moveTo>
                  <a:pt x="0" y="0"/>
                </a:moveTo>
                <a:lnTo>
                  <a:pt x="460962" y="0"/>
                </a:lnTo>
                <a:lnTo>
                  <a:pt x="460962" y="643578"/>
                </a:lnTo>
                <a:lnTo>
                  <a:pt x="0" y="64357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9144190" y="5098736"/>
            <a:ext cx="530127" cy="559849"/>
          </a:xfrm>
          <a:custGeom>
            <a:avLst/>
            <a:gdLst/>
            <a:ahLst/>
            <a:cxnLst/>
            <a:rect r="r" b="b" t="t" l="l"/>
            <a:pathLst>
              <a:path h="559849" w="530127">
                <a:moveTo>
                  <a:pt x="0" y="0"/>
                </a:moveTo>
                <a:lnTo>
                  <a:pt x="530127" y="0"/>
                </a:lnTo>
                <a:lnTo>
                  <a:pt x="530127" y="559849"/>
                </a:lnTo>
                <a:lnTo>
                  <a:pt x="0" y="55984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9109608" y="2836197"/>
            <a:ext cx="530127" cy="530127"/>
          </a:xfrm>
          <a:custGeom>
            <a:avLst/>
            <a:gdLst/>
            <a:ahLst/>
            <a:cxnLst/>
            <a:rect r="r" b="b" t="t" l="l"/>
            <a:pathLst>
              <a:path h="530127" w="530127">
                <a:moveTo>
                  <a:pt x="0" y="0"/>
                </a:moveTo>
                <a:lnTo>
                  <a:pt x="530127" y="0"/>
                </a:lnTo>
                <a:lnTo>
                  <a:pt x="530127" y="530128"/>
                </a:lnTo>
                <a:lnTo>
                  <a:pt x="0" y="53012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0378673" y="1851416"/>
            <a:ext cx="5608888" cy="47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80"/>
              </a:lnSpc>
              <a:spcBef>
                <a:spcPct val="0"/>
              </a:spcBef>
            </a:pPr>
            <a:r>
              <a:rPr lang="en-US" sz="2843" b="true">
                <a:solidFill>
                  <a:srgbClr val="1A1A1A"/>
                </a:solidFill>
                <a:latin typeface="DM Sans Bold"/>
                <a:ea typeface="DM Sans Bold"/>
                <a:cs typeface="DM Sans Bold"/>
                <a:sym typeface="DM Sans Bold"/>
              </a:rPr>
              <a:t>Gestión 100% manual y lenta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378673" y="4041853"/>
            <a:ext cx="5608888" cy="47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80"/>
              </a:lnSpc>
              <a:spcBef>
                <a:spcPct val="0"/>
              </a:spcBef>
            </a:pPr>
            <a:r>
              <a:rPr lang="en-US" sz="2843" b="true">
                <a:solidFill>
                  <a:srgbClr val="1A1A1A"/>
                </a:solidFill>
                <a:latin typeface="DM Sans Bold"/>
                <a:ea typeface="DM Sans Bold"/>
                <a:cs typeface="DM Sans Bold"/>
                <a:sym typeface="DM Sans Bold"/>
              </a:rPr>
              <a:t>Falta de organización por áreas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378673" y="2439978"/>
            <a:ext cx="7336541" cy="1262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2"/>
              </a:lnSpc>
              <a:spcBef>
                <a:spcPct val="0"/>
              </a:spcBef>
            </a:pPr>
            <a:r>
              <a:rPr lang="en-US" sz="2437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Dependencia de planillas Excel y canales informales, lo que retrasa el registro y control de la información.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378673" y="4627401"/>
            <a:ext cx="7336541" cy="1262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2"/>
              </a:lnSpc>
              <a:spcBef>
                <a:spcPct val="0"/>
              </a:spcBef>
            </a:pPr>
            <a:r>
              <a:rPr lang="en-US" sz="2437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Las tareas se gestionan como una lista general de pendientes, dificultando su organización y seguimiento por área operativa.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378673" y="6232290"/>
            <a:ext cx="7145071" cy="47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80"/>
              </a:lnSpc>
              <a:spcBef>
                <a:spcPct val="0"/>
              </a:spcBef>
            </a:pPr>
            <a:r>
              <a:rPr lang="en-US" sz="2843" b="true">
                <a:solidFill>
                  <a:srgbClr val="1A1A1A"/>
                </a:solidFill>
                <a:latin typeface="DM Sans Bold"/>
                <a:ea typeface="DM Sans Bold"/>
                <a:cs typeface="DM Sans Bold"/>
                <a:sym typeface="DM Sans Bold"/>
              </a:rPr>
              <a:t>Baja visibilidad de la gestión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378673" y="6889630"/>
            <a:ext cx="7909327" cy="1271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2"/>
              </a:lnSpc>
              <a:spcBef>
                <a:spcPct val="0"/>
              </a:spcBef>
            </a:pPr>
            <a:r>
              <a:rPr lang="en-US" sz="2437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La</a:t>
            </a:r>
            <a:r>
              <a:rPr lang="en-US" sz="2437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 información de estado, costo</a:t>
            </a:r>
            <a:r>
              <a:rPr lang="en-US" sz="2437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s y planificación se encuentra dispersa, dificultando el seguimiento de las actividades y la toma oportuna de decisiones.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5513268" y="0"/>
            <a:ext cx="2774732" cy="938206"/>
          </a:xfrm>
          <a:custGeom>
            <a:avLst/>
            <a:gdLst/>
            <a:ahLst/>
            <a:cxnLst/>
            <a:rect r="r" b="b" t="t" l="l"/>
            <a:pathLst>
              <a:path h="938206" w="2774732">
                <a:moveTo>
                  <a:pt x="0" y="0"/>
                </a:moveTo>
                <a:lnTo>
                  <a:pt x="2774732" y="0"/>
                </a:lnTo>
                <a:lnTo>
                  <a:pt x="2774732" y="938206"/>
                </a:lnTo>
                <a:lnTo>
                  <a:pt x="0" y="93820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586" y="0"/>
            <a:ext cx="2774732" cy="938206"/>
          </a:xfrm>
          <a:custGeom>
            <a:avLst/>
            <a:gdLst/>
            <a:ahLst/>
            <a:cxnLst/>
            <a:rect r="r" b="b" t="t" l="l"/>
            <a:pathLst>
              <a:path h="938206" w="2774732">
                <a:moveTo>
                  <a:pt x="0" y="0"/>
                </a:moveTo>
                <a:lnTo>
                  <a:pt x="2774732" y="0"/>
                </a:lnTo>
                <a:lnTo>
                  <a:pt x="2774732" y="938206"/>
                </a:lnTo>
                <a:lnTo>
                  <a:pt x="0" y="9382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35798" y="7211474"/>
            <a:ext cx="542631" cy="630966"/>
          </a:xfrm>
          <a:custGeom>
            <a:avLst/>
            <a:gdLst/>
            <a:ahLst/>
            <a:cxnLst/>
            <a:rect r="r" b="b" t="t" l="l"/>
            <a:pathLst>
              <a:path h="630966" w="542631">
                <a:moveTo>
                  <a:pt x="0" y="0"/>
                </a:moveTo>
                <a:lnTo>
                  <a:pt x="542631" y="0"/>
                </a:lnTo>
                <a:lnTo>
                  <a:pt x="542631" y="630965"/>
                </a:lnTo>
                <a:lnTo>
                  <a:pt x="0" y="63096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78446" y="6230950"/>
            <a:ext cx="657334" cy="558734"/>
          </a:xfrm>
          <a:custGeom>
            <a:avLst/>
            <a:gdLst/>
            <a:ahLst/>
            <a:cxnLst/>
            <a:rect r="r" b="b" t="t" l="l"/>
            <a:pathLst>
              <a:path h="558734" w="657334">
                <a:moveTo>
                  <a:pt x="0" y="0"/>
                </a:moveTo>
                <a:lnTo>
                  <a:pt x="657334" y="0"/>
                </a:lnTo>
                <a:lnTo>
                  <a:pt x="657334" y="558734"/>
                </a:lnTo>
                <a:lnTo>
                  <a:pt x="0" y="55873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294926" y="1575843"/>
            <a:ext cx="7964374" cy="7964374"/>
          </a:xfrm>
          <a:custGeom>
            <a:avLst/>
            <a:gdLst/>
            <a:ahLst/>
            <a:cxnLst/>
            <a:rect r="r" b="b" t="t" l="l"/>
            <a:pathLst>
              <a:path h="7964374" w="7964374">
                <a:moveTo>
                  <a:pt x="0" y="0"/>
                </a:moveTo>
                <a:lnTo>
                  <a:pt x="7964374" y="0"/>
                </a:lnTo>
                <a:lnTo>
                  <a:pt x="7964374" y="7964374"/>
                </a:lnTo>
                <a:lnTo>
                  <a:pt x="0" y="796437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20999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w="95250" cap="rnd">
            <a:solidFill>
              <a:srgbClr val="1A1A1A">
                <a:alpha val="20784"/>
              </a:srgbClr>
            </a:solidFill>
            <a:prstDash val="solid"/>
            <a:round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047439" y="4111393"/>
            <a:ext cx="669243" cy="505278"/>
          </a:xfrm>
          <a:custGeom>
            <a:avLst/>
            <a:gdLst/>
            <a:ahLst/>
            <a:cxnLst/>
            <a:rect r="r" b="b" t="t" l="l"/>
            <a:pathLst>
              <a:path h="505278" w="669243">
                <a:moveTo>
                  <a:pt x="0" y="0"/>
                </a:moveTo>
                <a:lnTo>
                  <a:pt x="669242" y="0"/>
                </a:lnTo>
                <a:lnTo>
                  <a:pt x="669242" y="505278"/>
                </a:lnTo>
                <a:lnTo>
                  <a:pt x="0" y="50527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59348" y="5056272"/>
            <a:ext cx="657334" cy="598174"/>
          </a:xfrm>
          <a:custGeom>
            <a:avLst/>
            <a:gdLst/>
            <a:ahLst/>
            <a:cxnLst/>
            <a:rect r="r" b="b" t="t" l="l"/>
            <a:pathLst>
              <a:path h="598174" w="657334">
                <a:moveTo>
                  <a:pt x="0" y="0"/>
                </a:moveTo>
                <a:lnTo>
                  <a:pt x="657333" y="0"/>
                </a:lnTo>
                <a:lnTo>
                  <a:pt x="657333" y="598174"/>
                </a:lnTo>
                <a:lnTo>
                  <a:pt x="0" y="59817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28700" y="3113658"/>
            <a:ext cx="707080" cy="721510"/>
          </a:xfrm>
          <a:custGeom>
            <a:avLst/>
            <a:gdLst/>
            <a:ahLst/>
            <a:cxnLst/>
            <a:rect r="r" b="b" t="t" l="l"/>
            <a:pathLst>
              <a:path h="721510" w="707080">
                <a:moveTo>
                  <a:pt x="0" y="0"/>
                </a:moveTo>
                <a:lnTo>
                  <a:pt x="707080" y="0"/>
                </a:lnTo>
                <a:lnTo>
                  <a:pt x="707080" y="721510"/>
                </a:lnTo>
                <a:lnTo>
                  <a:pt x="0" y="72151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566824" y="1721449"/>
            <a:ext cx="610160" cy="610160"/>
          </a:xfrm>
          <a:custGeom>
            <a:avLst/>
            <a:gdLst/>
            <a:ahLst/>
            <a:cxnLst/>
            <a:rect r="r" b="b" t="t" l="l"/>
            <a:pathLst>
              <a:path h="610160" w="610160">
                <a:moveTo>
                  <a:pt x="0" y="0"/>
                </a:moveTo>
                <a:lnTo>
                  <a:pt x="610159" y="0"/>
                </a:lnTo>
                <a:lnTo>
                  <a:pt x="610159" y="610160"/>
                </a:lnTo>
                <a:lnTo>
                  <a:pt x="0" y="61016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490877" y="3235863"/>
            <a:ext cx="786637" cy="692240"/>
          </a:xfrm>
          <a:custGeom>
            <a:avLst/>
            <a:gdLst/>
            <a:ahLst/>
            <a:cxnLst/>
            <a:rect r="r" b="b" t="t" l="l"/>
            <a:pathLst>
              <a:path h="692240" w="786637">
                <a:moveTo>
                  <a:pt x="0" y="0"/>
                </a:moveTo>
                <a:lnTo>
                  <a:pt x="786636" y="0"/>
                </a:lnTo>
                <a:lnTo>
                  <a:pt x="786636" y="692240"/>
                </a:lnTo>
                <a:lnTo>
                  <a:pt x="0" y="692240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435766" y="5032038"/>
            <a:ext cx="841748" cy="736529"/>
          </a:xfrm>
          <a:custGeom>
            <a:avLst/>
            <a:gdLst/>
            <a:ahLst/>
            <a:cxnLst/>
            <a:rect r="r" b="b" t="t" l="l"/>
            <a:pathLst>
              <a:path h="736529" w="841748">
                <a:moveTo>
                  <a:pt x="0" y="0"/>
                </a:moveTo>
                <a:lnTo>
                  <a:pt x="841747" y="0"/>
                </a:lnTo>
                <a:lnTo>
                  <a:pt x="841747" y="736529"/>
                </a:lnTo>
                <a:lnTo>
                  <a:pt x="0" y="736529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150006" y="6097234"/>
            <a:ext cx="332190" cy="332190"/>
          </a:xfrm>
          <a:custGeom>
            <a:avLst/>
            <a:gdLst/>
            <a:ahLst/>
            <a:cxnLst/>
            <a:rect r="r" b="b" t="t" l="l"/>
            <a:pathLst>
              <a:path h="332190" w="332190">
                <a:moveTo>
                  <a:pt x="0" y="0"/>
                </a:moveTo>
                <a:lnTo>
                  <a:pt x="332190" y="0"/>
                </a:lnTo>
                <a:lnTo>
                  <a:pt x="332190" y="332191"/>
                </a:lnTo>
                <a:lnTo>
                  <a:pt x="0" y="332191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0150006" y="6652255"/>
            <a:ext cx="343223" cy="343223"/>
          </a:xfrm>
          <a:custGeom>
            <a:avLst/>
            <a:gdLst/>
            <a:ahLst/>
            <a:cxnLst/>
            <a:rect r="r" b="b" t="t" l="l"/>
            <a:pathLst>
              <a:path h="343223" w="343223">
                <a:moveTo>
                  <a:pt x="0" y="0"/>
                </a:moveTo>
                <a:lnTo>
                  <a:pt x="343223" y="0"/>
                </a:lnTo>
                <a:lnTo>
                  <a:pt x="343223" y="343223"/>
                </a:lnTo>
                <a:lnTo>
                  <a:pt x="0" y="343223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0161038" y="7172001"/>
            <a:ext cx="332190" cy="332190"/>
          </a:xfrm>
          <a:custGeom>
            <a:avLst/>
            <a:gdLst/>
            <a:ahLst/>
            <a:cxnLst/>
            <a:rect r="r" b="b" t="t" l="l"/>
            <a:pathLst>
              <a:path h="332190" w="332190">
                <a:moveTo>
                  <a:pt x="0" y="0"/>
                </a:moveTo>
                <a:lnTo>
                  <a:pt x="332191" y="0"/>
                </a:lnTo>
                <a:lnTo>
                  <a:pt x="332191" y="332190"/>
                </a:lnTo>
                <a:lnTo>
                  <a:pt x="0" y="332190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9588433" y="7707926"/>
            <a:ext cx="697717" cy="746222"/>
          </a:xfrm>
          <a:custGeom>
            <a:avLst/>
            <a:gdLst/>
            <a:ahLst/>
            <a:cxnLst/>
            <a:rect r="r" b="b" t="t" l="l"/>
            <a:pathLst>
              <a:path h="746222" w="697717">
                <a:moveTo>
                  <a:pt x="0" y="0"/>
                </a:moveTo>
                <a:lnTo>
                  <a:pt x="697717" y="0"/>
                </a:lnTo>
                <a:lnTo>
                  <a:pt x="697717" y="746222"/>
                </a:lnTo>
                <a:lnTo>
                  <a:pt x="0" y="746222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0632670" y="1721449"/>
            <a:ext cx="897293" cy="610160"/>
          </a:xfrm>
          <a:custGeom>
            <a:avLst/>
            <a:gdLst/>
            <a:ahLst/>
            <a:cxnLst/>
            <a:rect r="r" b="b" t="t" l="l"/>
            <a:pathLst>
              <a:path h="610160" w="897293">
                <a:moveTo>
                  <a:pt x="0" y="0"/>
                </a:moveTo>
                <a:lnTo>
                  <a:pt x="897294" y="0"/>
                </a:lnTo>
                <a:lnTo>
                  <a:pt x="897294" y="610160"/>
                </a:lnTo>
                <a:lnTo>
                  <a:pt x="0" y="610160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596497" y="3022949"/>
            <a:ext cx="7162917" cy="5516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4742" indent="-247371" lvl="1">
              <a:lnSpc>
                <a:spcPts val="4010"/>
              </a:lnSpc>
              <a:buFont typeface="Arial"/>
              <a:buChar char="•"/>
            </a:pPr>
            <a:r>
              <a:rPr lang="en-US" b="true" sz="229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Navegación por Tarjetas: </a:t>
            </a:r>
            <a:r>
              <a:rPr lang="en-US" sz="229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Interfaz visual basada en tarjetas interactivas.</a:t>
            </a:r>
          </a:p>
          <a:p>
            <a:pPr algn="l" marL="494742" indent="-247371" lvl="1">
              <a:lnSpc>
                <a:spcPts val="4010"/>
              </a:lnSpc>
              <a:buFont typeface="Arial"/>
              <a:buChar char="•"/>
            </a:pPr>
            <a:r>
              <a:rPr lang="en-US" b="true" sz="229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Dashboard Central:</a:t>
            </a:r>
            <a:r>
              <a:rPr lang="en-US" sz="229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Vista rápida de métricas clave y estado del sistema.</a:t>
            </a:r>
          </a:p>
          <a:p>
            <a:pPr algn="l" marL="494742" indent="-247371" lvl="1">
              <a:lnSpc>
                <a:spcPts val="4010"/>
              </a:lnSpc>
              <a:buFont typeface="Arial"/>
              <a:buChar char="•"/>
            </a:pPr>
            <a:r>
              <a:rPr lang="en-US" b="true" sz="229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Fichas Expandibles: </a:t>
            </a:r>
            <a:r>
              <a:rPr lang="en-US" sz="229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Tarjetas que se abren para revelar información detallada.</a:t>
            </a:r>
          </a:p>
          <a:p>
            <a:pPr algn="l" marL="494742" indent="-247371" lvl="1">
              <a:lnSpc>
                <a:spcPts val="4010"/>
              </a:lnSpc>
              <a:buFont typeface="Arial"/>
              <a:buChar char="•"/>
            </a:pPr>
            <a:r>
              <a:rPr lang="en-US" b="true" sz="229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Gantt Integrado: </a:t>
            </a:r>
            <a:r>
              <a:rPr lang="en-US" sz="229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Visualización de tareas en una línea de tiempo.</a:t>
            </a:r>
          </a:p>
          <a:p>
            <a:pPr algn="l" marL="494742" indent="-247371" lvl="1">
              <a:lnSpc>
                <a:spcPts val="4010"/>
              </a:lnSpc>
              <a:buFont typeface="Arial"/>
              <a:buChar char="•"/>
            </a:pPr>
            <a:r>
              <a:rPr lang="en-US" b="true" sz="229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Alertas Automáticas:</a:t>
            </a:r>
            <a:r>
              <a:rPr lang="en-US" sz="229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Avisos de mantenciones próximas o vencidas.</a:t>
            </a:r>
          </a:p>
          <a:p>
            <a:pPr algn="l">
              <a:lnSpc>
                <a:spcPts val="4010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2291693" y="1577575"/>
            <a:ext cx="5885789" cy="812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84"/>
              </a:lnSpc>
              <a:spcBef>
                <a:spcPct val="0"/>
              </a:spcBef>
            </a:pPr>
            <a:r>
              <a:rPr lang="en-US" b="true" sz="4774">
                <a:solidFill>
                  <a:srgbClr val="FF6B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Funcionales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970842" y="-133350"/>
            <a:ext cx="12346317" cy="1177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23"/>
              </a:lnSpc>
              <a:spcBef>
                <a:spcPct val="0"/>
              </a:spcBef>
            </a:pPr>
            <a:r>
              <a:rPr lang="en-US" b="true" sz="6874">
                <a:solidFill>
                  <a:srgbClr val="FF6B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Requerimientos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286150" y="2541236"/>
            <a:ext cx="6973150" cy="5909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50"/>
              </a:lnSpc>
            </a:pPr>
          </a:p>
          <a:p>
            <a:pPr algn="l" marL="487321" indent="-243661" lvl="1">
              <a:lnSpc>
                <a:spcPts val="3950"/>
              </a:lnSpc>
              <a:buFont typeface="Arial"/>
              <a:buChar char="•"/>
            </a:pPr>
            <a:r>
              <a:rPr lang="en-US" b="true" sz="2257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Uso de Emojis: </a:t>
            </a:r>
            <a:r>
              <a:rPr lang="en-US" sz="225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El sistema debe utilizar emojis en la interfaz para representar información y estados.</a:t>
            </a:r>
          </a:p>
          <a:p>
            <a:pPr algn="l" marL="487321" indent="-243661" lvl="1">
              <a:lnSpc>
                <a:spcPts val="3950"/>
              </a:lnSpc>
              <a:buFont typeface="Arial"/>
              <a:buChar char="•"/>
            </a:pPr>
            <a:r>
              <a:rPr lang="en-US" b="true" sz="2257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Paleta de Colores para Estados de Tareas:</a:t>
            </a:r>
            <a:r>
              <a:rPr lang="en-US" sz="225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El sistema debe usar una paleta de colores específica para el estado de las tareas:</a:t>
            </a:r>
          </a:p>
          <a:p>
            <a:pPr algn="l">
              <a:lnSpc>
                <a:spcPts val="3950"/>
              </a:lnSpc>
            </a:pPr>
            <a:r>
              <a:rPr lang="en-US" sz="225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    - </a:t>
            </a:r>
            <a:r>
              <a:rPr lang="en-US" sz="2257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Rojo: </a:t>
            </a:r>
            <a:r>
              <a:rPr lang="en-US" sz="225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Urgente o peligro.</a:t>
            </a:r>
          </a:p>
          <a:p>
            <a:pPr algn="l">
              <a:lnSpc>
                <a:spcPts val="3950"/>
              </a:lnSpc>
            </a:pPr>
            <a:r>
              <a:rPr lang="en-US" sz="225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    - </a:t>
            </a:r>
            <a:r>
              <a:rPr lang="en-US" sz="2257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Amarillo: </a:t>
            </a:r>
            <a:r>
              <a:rPr lang="en-US" sz="225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No tan urgente o por vencer.</a:t>
            </a:r>
          </a:p>
          <a:p>
            <a:pPr algn="l">
              <a:lnSpc>
                <a:spcPts val="3950"/>
              </a:lnSpc>
            </a:pPr>
            <a:r>
              <a:rPr lang="en-US" sz="225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    - </a:t>
            </a:r>
            <a:r>
              <a:rPr lang="en-US" sz="2257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Verde: </a:t>
            </a:r>
            <a:r>
              <a:rPr lang="en-US" sz="225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Completado o no urgente / no peligroso.</a:t>
            </a:r>
          </a:p>
          <a:p>
            <a:pPr algn="l" marL="487321" indent="-243661" lvl="1">
              <a:lnSpc>
                <a:spcPts val="3950"/>
              </a:lnSpc>
              <a:buFont typeface="Arial"/>
              <a:buChar char="•"/>
            </a:pPr>
            <a:r>
              <a:rPr lang="en-US" b="true" sz="2257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Modo Oscuro: </a:t>
            </a:r>
            <a:r>
              <a:rPr lang="en-US" sz="225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El sistema debe contar con una opción de interfaz en modo oscuro.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081317" y="1577575"/>
            <a:ext cx="5885789" cy="812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84"/>
              </a:lnSpc>
              <a:spcBef>
                <a:spcPct val="0"/>
              </a:spcBef>
            </a:pPr>
            <a:r>
              <a:rPr lang="en-US" b="true" sz="4774">
                <a:solidFill>
                  <a:srgbClr val="FF6B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No Funcionales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768577" y="1575843"/>
            <a:ext cx="7964374" cy="7964374"/>
          </a:xfrm>
          <a:custGeom>
            <a:avLst/>
            <a:gdLst/>
            <a:ahLst/>
            <a:cxnLst/>
            <a:rect r="r" b="b" t="t" l="l"/>
            <a:pathLst>
              <a:path h="7964374" w="7964374">
                <a:moveTo>
                  <a:pt x="0" y="0"/>
                </a:moveTo>
                <a:lnTo>
                  <a:pt x="7964374" y="0"/>
                </a:lnTo>
                <a:lnTo>
                  <a:pt x="7964374" y="7964374"/>
                </a:lnTo>
                <a:lnTo>
                  <a:pt x="0" y="796437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20999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w="95250" cap="rnd">
            <a:solidFill>
              <a:srgbClr val="1A1A1A">
                <a:alpha val="20784"/>
              </a:srgbClr>
            </a:solidFill>
            <a:prstDash val="solid"/>
            <a:round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513268" y="0"/>
            <a:ext cx="2774732" cy="938206"/>
          </a:xfrm>
          <a:custGeom>
            <a:avLst/>
            <a:gdLst/>
            <a:ahLst/>
            <a:cxnLst/>
            <a:rect r="r" b="b" t="t" l="l"/>
            <a:pathLst>
              <a:path h="938206" w="2774732">
                <a:moveTo>
                  <a:pt x="0" y="0"/>
                </a:moveTo>
                <a:lnTo>
                  <a:pt x="2774732" y="0"/>
                </a:lnTo>
                <a:lnTo>
                  <a:pt x="2774732" y="938206"/>
                </a:lnTo>
                <a:lnTo>
                  <a:pt x="0" y="9382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96426" y="2568326"/>
            <a:ext cx="1622446" cy="1676324"/>
          </a:xfrm>
          <a:custGeom>
            <a:avLst/>
            <a:gdLst/>
            <a:ahLst/>
            <a:cxnLst/>
            <a:rect r="r" b="b" t="t" l="l"/>
            <a:pathLst>
              <a:path h="1676324" w="1622446">
                <a:moveTo>
                  <a:pt x="0" y="0"/>
                </a:moveTo>
                <a:lnTo>
                  <a:pt x="1622447" y="0"/>
                </a:lnTo>
                <a:lnTo>
                  <a:pt x="1622447" y="1676324"/>
                </a:lnTo>
                <a:lnTo>
                  <a:pt x="0" y="16763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660" t="0" r="-166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7586" y="895350"/>
            <a:ext cx="18288000" cy="1177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23"/>
              </a:lnSpc>
              <a:spcBef>
                <a:spcPct val="0"/>
              </a:spcBef>
            </a:pPr>
            <a:r>
              <a:rPr lang="en-US" b="true" sz="6874">
                <a:solidFill>
                  <a:srgbClr val="FF6B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Usuarios / Accesos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4969127" y="2568326"/>
            <a:ext cx="1622446" cy="1676324"/>
          </a:xfrm>
          <a:custGeom>
            <a:avLst/>
            <a:gdLst/>
            <a:ahLst/>
            <a:cxnLst/>
            <a:rect r="r" b="b" t="t" l="l"/>
            <a:pathLst>
              <a:path h="1676324" w="1622446">
                <a:moveTo>
                  <a:pt x="0" y="0"/>
                </a:moveTo>
                <a:lnTo>
                  <a:pt x="1622447" y="0"/>
                </a:lnTo>
                <a:lnTo>
                  <a:pt x="1622447" y="1676324"/>
                </a:lnTo>
                <a:lnTo>
                  <a:pt x="0" y="16763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660" t="0" r="-166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094706" y="2568326"/>
            <a:ext cx="1622446" cy="1676324"/>
          </a:xfrm>
          <a:custGeom>
            <a:avLst/>
            <a:gdLst/>
            <a:ahLst/>
            <a:cxnLst/>
            <a:rect r="r" b="b" t="t" l="l"/>
            <a:pathLst>
              <a:path h="1676324" w="1622446">
                <a:moveTo>
                  <a:pt x="0" y="0"/>
                </a:moveTo>
                <a:lnTo>
                  <a:pt x="1622446" y="0"/>
                </a:lnTo>
                <a:lnTo>
                  <a:pt x="1622446" y="1676324"/>
                </a:lnTo>
                <a:lnTo>
                  <a:pt x="0" y="16763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660" t="0" r="-166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545207" y="2568326"/>
            <a:ext cx="1622446" cy="1676324"/>
          </a:xfrm>
          <a:custGeom>
            <a:avLst/>
            <a:gdLst/>
            <a:ahLst/>
            <a:cxnLst/>
            <a:rect r="r" b="b" t="t" l="l"/>
            <a:pathLst>
              <a:path h="1676324" w="1622446">
                <a:moveTo>
                  <a:pt x="0" y="0"/>
                </a:moveTo>
                <a:lnTo>
                  <a:pt x="1622446" y="0"/>
                </a:lnTo>
                <a:lnTo>
                  <a:pt x="1622446" y="1676324"/>
                </a:lnTo>
                <a:lnTo>
                  <a:pt x="0" y="16763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660" t="0" r="-166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00489" y="4476684"/>
            <a:ext cx="3814321" cy="3814321"/>
          </a:xfrm>
          <a:custGeom>
            <a:avLst/>
            <a:gdLst/>
            <a:ahLst/>
            <a:cxnLst/>
            <a:rect r="r" b="b" t="t" l="l"/>
            <a:pathLst>
              <a:path h="3814321" w="3814321">
                <a:moveTo>
                  <a:pt x="0" y="0"/>
                </a:moveTo>
                <a:lnTo>
                  <a:pt x="3814321" y="0"/>
                </a:lnTo>
                <a:lnTo>
                  <a:pt x="3814321" y="3814320"/>
                </a:lnTo>
                <a:lnTo>
                  <a:pt x="0" y="38143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0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w="95250" cap="rnd">
            <a:solidFill>
              <a:srgbClr val="1A1A1A">
                <a:alpha val="20784"/>
              </a:srgbClr>
            </a:solidFill>
            <a:prstDash val="solid"/>
            <a:round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5025349" y="4476684"/>
            <a:ext cx="3814321" cy="3814321"/>
          </a:xfrm>
          <a:custGeom>
            <a:avLst/>
            <a:gdLst/>
            <a:ahLst/>
            <a:cxnLst/>
            <a:rect r="r" b="b" t="t" l="l"/>
            <a:pathLst>
              <a:path h="3814321" w="3814321">
                <a:moveTo>
                  <a:pt x="0" y="0"/>
                </a:moveTo>
                <a:lnTo>
                  <a:pt x="3814320" y="0"/>
                </a:lnTo>
                <a:lnTo>
                  <a:pt x="3814320" y="3814320"/>
                </a:lnTo>
                <a:lnTo>
                  <a:pt x="0" y="38143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0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w="95250" cap="rnd">
            <a:solidFill>
              <a:srgbClr val="1A1A1A">
                <a:alpha val="20784"/>
              </a:srgbClr>
            </a:solidFill>
            <a:prstDash val="solid"/>
            <a:round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9449269" y="4476684"/>
            <a:ext cx="3814321" cy="3814321"/>
          </a:xfrm>
          <a:custGeom>
            <a:avLst/>
            <a:gdLst/>
            <a:ahLst/>
            <a:cxnLst/>
            <a:rect r="r" b="b" t="t" l="l"/>
            <a:pathLst>
              <a:path h="3814321" w="3814321">
                <a:moveTo>
                  <a:pt x="0" y="0"/>
                </a:moveTo>
                <a:lnTo>
                  <a:pt x="3814321" y="0"/>
                </a:lnTo>
                <a:lnTo>
                  <a:pt x="3814321" y="3814320"/>
                </a:lnTo>
                <a:lnTo>
                  <a:pt x="0" y="38143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0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w="95250" cap="rnd">
            <a:solidFill>
              <a:srgbClr val="1A1A1A">
                <a:alpha val="20784"/>
              </a:srgbClr>
            </a:solidFill>
            <a:prstDash val="solid"/>
            <a:round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13873190" y="4476684"/>
            <a:ext cx="3814321" cy="3814321"/>
          </a:xfrm>
          <a:custGeom>
            <a:avLst/>
            <a:gdLst/>
            <a:ahLst/>
            <a:cxnLst/>
            <a:rect r="r" b="b" t="t" l="l"/>
            <a:pathLst>
              <a:path h="3814321" w="3814321">
                <a:moveTo>
                  <a:pt x="0" y="0"/>
                </a:moveTo>
                <a:lnTo>
                  <a:pt x="3814321" y="0"/>
                </a:lnTo>
                <a:lnTo>
                  <a:pt x="3814321" y="3814320"/>
                </a:lnTo>
                <a:lnTo>
                  <a:pt x="0" y="38143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0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w="95250" cap="rnd">
            <a:solidFill>
              <a:srgbClr val="1A1A1A">
                <a:alpha val="20784"/>
              </a:srgbClr>
            </a:solidFill>
            <a:prstDash val="solid"/>
            <a:round/>
          </a:ln>
        </p:spPr>
      </p:sp>
      <p:sp>
        <p:nvSpPr>
          <p:cNvPr name="TextBox 12" id="12"/>
          <p:cNvSpPr txBox="true"/>
          <p:nvPr/>
        </p:nvSpPr>
        <p:spPr>
          <a:xfrm rot="0">
            <a:off x="600489" y="4591647"/>
            <a:ext cx="3709879" cy="1197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63"/>
              </a:lnSpc>
              <a:spcBef>
                <a:spcPct val="0"/>
              </a:spcBef>
            </a:pPr>
            <a:r>
              <a:rPr lang="en-US" b="true" sz="3474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Administrador General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231279" y="4591647"/>
            <a:ext cx="3402461" cy="1197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63"/>
              </a:lnSpc>
              <a:spcBef>
                <a:spcPct val="0"/>
              </a:spcBef>
            </a:pPr>
            <a:r>
              <a:rPr lang="en-US" b="true" sz="3474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Técnico Mantención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998089" y="4591647"/>
            <a:ext cx="2716681" cy="1197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63"/>
              </a:lnSpc>
              <a:spcBef>
                <a:spcPct val="0"/>
              </a:spcBef>
            </a:pPr>
            <a:r>
              <a:rPr lang="en-US" b="true" sz="3474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Solicitante  (Recepción)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925578" y="4511346"/>
            <a:ext cx="3709546" cy="1197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63"/>
              </a:lnSpc>
            </a:pPr>
            <a:r>
              <a:rPr lang="en-US" b="true" sz="3474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Por </a:t>
            </a:r>
          </a:p>
          <a:p>
            <a:pPr algn="ctr">
              <a:lnSpc>
                <a:spcPts val="4863"/>
              </a:lnSpc>
              <a:spcBef>
                <a:spcPct val="0"/>
              </a:spcBef>
            </a:pPr>
            <a:r>
              <a:rPr lang="en-US" b="true" sz="3474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confirmar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03563" y="6151230"/>
            <a:ext cx="2703732" cy="718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0657" indent="-225328" lvl="1">
              <a:lnSpc>
                <a:spcPts val="2922"/>
              </a:lnSpc>
              <a:spcBef>
                <a:spcPct val="0"/>
              </a:spcBef>
              <a:buFont typeface="Arial"/>
              <a:buChar char="•"/>
            </a:pPr>
            <a:r>
              <a:rPr lang="en-US" sz="2087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Acceso total a todo el sistema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231279" y="6025652"/>
            <a:ext cx="3118464" cy="1804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450184" indent="-225092" lvl="1">
              <a:lnSpc>
                <a:spcPts val="2919"/>
              </a:lnSpc>
              <a:buFont typeface="Arial"/>
              <a:buChar char="•"/>
            </a:pPr>
            <a:r>
              <a:rPr lang="en-US" sz="2085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Mantención General</a:t>
            </a:r>
          </a:p>
          <a:p>
            <a:pPr algn="ctr" marL="450184" indent="-225092" lvl="1">
              <a:lnSpc>
                <a:spcPts val="2919"/>
              </a:lnSpc>
              <a:buFont typeface="Arial"/>
              <a:buChar char="•"/>
            </a:pPr>
            <a:r>
              <a:rPr lang="en-US" sz="2085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Mantención Reactiva</a:t>
            </a:r>
          </a:p>
          <a:p>
            <a:pPr algn="l" marL="450184" indent="-225092" lvl="1">
              <a:lnSpc>
                <a:spcPts val="2919"/>
              </a:lnSpc>
              <a:buFont typeface="Arial"/>
              <a:buChar char="•"/>
            </a:pPr>
            <a:r>
              <a:rPr lang="en-US" sz="2085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Mantención de Máquinas</a:t>
            </a:r>
          </a:p>
          <a:p>
            <a:pPr algn="ctr">
              <a:lnSpc>
                <a:spcPts val="2919"/>
              </a:lnSpc>
              <a:spcBef>
                <a:spcPct val="0"/>
              </a:spcBef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10058958" y="6025652"/>
            <a:ext cx="2108695" cy="1080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450184" indent="-225092" lvl="1">
              <a:lnSpc>
                <a:spcPts val="2919"/>
              </a:lnSpc>
              <a:buFont typeface="Arial"/>
              <a:buChar char="•"/>
            </a:pPr>
            <a:r>
              <a:rPr lang="en-US" sz="2085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Apartado de solicitudes</a:t>
            </a:r>
          </a:p>
          <a:p>
            <a:pPr algn="ctr">
              <a:lnSpc>
                <a:spcPts val="291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586" y="0"/>
            <a:ext cx="2774732" cy="938206"/>
          </a:xfrm>
          <a:custGeom>
            <a:avLst/>
            <a:gdLst/>
            <a:ahLst/>
            <a:cxnLst/>
            <a:rect r="r" b="b" t="t" l="l"/>
            <a:pathLst>
              <a:path h="938206" w="2774732">
                <a:moveTo>
                  <a:pt x="0" y="0"/>
                </a:moveTo>
                <a:lnTo>
                  <a:pt x="2774732" y="0"/>
                </a:lnTo>
                <a:lnTo>
                  <a:pt x="2774732" y="938206"/>
                </a:lnTo>
                <a:lnTo>
                  <a:pt x="0" y="9382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132745" y="2976927"/>
            <a:ext cx="14022510" cy="3894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95"/>
              </a:lnSpc>
              <a:spcBef>
                <a:spcPct val="0"/>
              </a:spcBef>
            </a:pPr>
            <a:r>
              <a:rPr lang="en-US" b="true" sz="22782" u="sng">
                <a:solidFill>
                  <a:srgbClr val="FF6B00"/>
                </a:solidFill>
                <a:latin typeface="Open Sauce Bold"/>
                <a:ea typeface="Open Sauce Bold"/>
                <a:cs typeface="Open Sauce Bold"/>
                <a:sym typeface="Open Sauce Bold"/>
                <a:hlinkClick r:id="rId3" tooltip="https://pruebaelalmendro.vercel.app"/>
              </a:rPr>
              <a:t>Mockups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370440" y="4098543"/>
            <a:ext cx="9547120" cy="4076537"/>
            <a:chOff x="0" y="0"/>
            <a:chExt cx="1479099" cy="6315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79099" cy="631562"/>
            </a:xfrm>
            <a:custGeom>
              <a:avLst/>
              <a:gdLst/>
              <a:ahLst/>
              <a:cxnLst/>
              <a:rect r="r" b="b" t="t" l="l"/>
              <a:pathLst>
                <a:path h="631562" w="1479099">
                  <a:moveTo>
                    <a:pt x="18651" y="0"/>
                  </a:moveTo>
                  <a:lnTo>
                    <a:pt x="1460448" y="0"/>
                  </a:lnTo>
                  <a:cubicBezTo>
                    <a:pt x="1465394" y="0"/>
                    <a:pt x="1470138" y="1965"/>
                    <a:pt x="1473636" y="5463"/>
                  </a:cubicBezTo>
                  <a:cubicBezTo>
                    <a:pt x="1477134" y="8961"/>
                    <a:pt x="1479099" y="13705"/>
                    <a:pt x="1479099" y="18651"/>
                  </a:cubicBezTo>
                  <a:lnTo>
                    <a:pt x="1479099" y="612911"/>
                  </a:lnTo>
                  <a:cubicBezTo>
                    <a:pt x="1479099" y="623212"/>
                    <a:pt x="1470748" y="631562"/>
                    <a:pt x="1460448" y="631562"/>
                  </a:cubicBezTo>
                  <a:lnTo>
                    <a:pt x="18651" y="631562"/>
                  </a:lnTo>
                  <a:cubicBezTo>
                    <a:pt x="13705" y="631562"/>
                    <a:pt x="8961" y="629597"/>
                    <a:pt x="5463" y="626099"/>
                  </a:cubicBezTo>
                  <a:cubicBezTo>
                    <a:pt x="1965" y="622602"/>
                    <a:pt x="0" y="617858"/>
                    <a:pt x="0" y="612911"/>
                  </a:cubicBezTo>
                  <a:lnTo>
                    <a:pt x="0" y="18651"/>
                  </a:lnTo>
                  <a:cubicBezTo>
                    <a:pt x="0" y="13705"/>
                    <a:pt x="1965" y="8961"/>
                    <a:pt x="5463" y="5463"/>
                  </a:cubicBezTo>
                  <a:cubicBezTo>
                    <a:pt x="8961" y="1965"/>
                    <a:pt x="13705" y="0"/>
                    <a:pt x="18651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28016" r="0" b="-28016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5279459" y="-18970"/>
            <a:ext cx="3008541" cy="1017263"/>
          </a:xfrm>
          <a:custGeom>
            <a:avLst/>
            <a:gdLst/>
            <a:ahLst/>
            <a:cxnLst/>
            <a:rect r="r" b="b" t="t" l="l"/>
            <a:pathLst>
              <a:path h="1017263" w="3008541">
                <a:moveTo>
                  <a:pt x="0" y="0"/>
                </a:moveTo>
                <a:lnTo>
                  <a:pt x="3008541" y="0"/>
                </a:lnTo>
                <a:lnTo>
                  <a:pt x="3008541" y="1017263"/>
                </a:lnTo>
                <a:lnTo>
                  <a:pt x="0" y="10172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414556" y="807793"/>
            <a:ext cx="5521999" cy="1733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173"/>
              </a:lnSpc>
              <a:spcBef>
                <a:spcPct val="0"/>
              </a:spcBef>
            </a:pPr>
            <a:r>
              <a:rPr lang="en-US" sz="10123" b="true">
                <a:solidFill>
                  <a:srgbClr val="FF6B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Muchas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846034" y="2117055"/>
            <a:ext cx="5849924" cy="1443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759"/>
              </a:lnSpc>
              <a:spcBef>
                <a:spcPct val="0"/>
              </a:spcBef>
            </a:pPr>
            <a:r>
              <a:rPr lang="en-US" sz="8399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Gracias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DAHUe0qkFZM</dc:identifier>
  <dcterms:modified xsi:type="dcterms:W3CDTF">2011-08-01T06:04:30Z</dcterms:modified>
  <cp:revision>1</cp:revision>
  <dc:title>Capstone 2026: Hotel El Almendro</dc:title>
</cp:coreProperties>
</file>